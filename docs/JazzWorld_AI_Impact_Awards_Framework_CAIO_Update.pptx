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FF1"/>
    <a:srgbClr val="5A024E"/>
    <a:srgbClr val="880939"/>
    <a:srgbClr val="BFBFBF"/>
    <a:srgbClr val="7F7F7F"/>
    <a:srgbClr val="000000"/>
    <a:srgbClr val="FB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18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02DA6-64AE-BD45-318E-F0127230E2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0305" y="269891"/>
            <a:ext cx="751809" cy="751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JAZZWORLD AI IMPACT AWARDS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Everyday Ideas into Meaningful Impact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Empowering every employee to solve real problems with AI—and be recognized.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19" y="1719072"/>
            <a:ext cx="11103559" cy="932688"/>
          </a:xfrm>
          <a:prstGeom prst="roundRect">
            <a:avLst>
              <a:gd name="adj" fmla="val 6863"/>
            </a:avLst>
          </a:prstGeom>
          <a:solidFill>
            <a:srgbClr val="F6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" y="1847088"/>
            <a:ext cx="310896" cy="54864"/>
          </a:xfrm>
          <a:prstGeom prst="rect">
            <a:avLst/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1938528"/>
            <a:ext cx="2378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Real Problems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" y="2194560"/>
            <a:ext cx="23781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Apply AI to meaningful business challenges.</a:t>
            </a:r>
          </a:p>
        </p:txBody>
      </p:sp>
      <p:sp>
        <p:nvSpPr>
          <p:cNvPr id="10" name="Shape 8"/>
          <p:cNvSpPr/>
          <p:nvPr/>
        </p:nvSpPr>
        <p:spPr>
          <a:xfrm>
            <a:off x="3484550" y="1847088"/>
            <a:ext cx="310896" cy="54864"/>
          </a:xfrm>
          <a:prstGeom prst="rect">
            <a:avLst/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4550" y="1938528"/>
            <a:ext cx="2378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cs typeface="Calibri" pitchFamily="34" charset="-120"/>
              </a:rPr>
              <a:t>Recognize Impact</a:t>
            </a:r>
          </a:p>
        </p:txBody>
      </p:sp>
      <p:sp>
        <p:nvSpPr>
          <p:cNvPr id="12" name="Text 10"/>
          <p:cNvSpPr/>
          <p:nvPr/>
        </p:nvSpPr>
        <p:spPr>
          <a:xfrm>
            <a:off x="3484550" y="2194560"/>
            <a:ext cx="23781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Celebrate innovation, adoption and results.</a:t>
            </a:r>
          </a:p>
        </p:txBody>
      </p:sp>
      <p:sp>
        <p:nvSpPr>
          <p:cNvPr id="14" name="Shape 12"/>
          <p:cNvSpPr/>
          <p:nvPr/>
        </p:nvSpPr>
        <p:spPr>
          <a:xfrm>
            <a:off x="6319876" y="1847088"/>
            <a:ext cx="310896" cy="54864"/>
          </a:xfrm>
          <a:prstGeom prst="rect">
            <a:avLst/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9876" y="1938528"/>
            <a:ext cx="2378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cs typeface="Calibri" pitchFamily="34" charset="-120"/>
              </a:rPr>
              <a:t>Build Momentum</a:t>
            </a:r>
          </a:p>
        </p:txBody>
      </p:sp>
      <p:sp>
        <p:nvSpPr>
          <p:cNvPr id="16" name="Text 14"/>
          <p:cNvSpPr/>
          <p:nvPr/>
        </p:nvSpPr>
        <p:spPr>
          <a:xfrm>
            <a:off x="6319876" y="2194560"/>
            <a:ext cx="23781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promising ideas visibility and support.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55201" y="1847088"/>
            <a:ext cx="310896" cy="54864"/>
          </a:xfrm>
          <a:prstGeom prst="rect">
            <a:avLst/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55201" y="1938528"/>
            <a:ext cx="2378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cs typeface="Calibri" pitchFamily="34" charset="-120"/>
              </a:rPr>
              <a:t>Enable Scale</a:t>
            </a:r>
          </a:p>
        </p:txBody>
      </p:sp>
      <p:sp>
        <p:nvSpPr>
          <p:cNvPr id="20" name="Text 18"/>
          <p:cNvSpPr/>
          <p:nvPr/>
        </p:nvSpPr>
        <p:spPr>
          <a:xfrm>
            <a:off x="9155201" y="2194560"/>
            <a:ext cx="23781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Move strong solutions to pilot and wider use.</a:t>
            </a:r>
          </a:p>
        </p:txBody>
      </p:sp>
      <p:sp>
        <p:nvSpPr>
          <p:cNvPr id="21" name="Text 19"/>
          <p:cNvSpPr/>
          <p:nvPr/>
        </p:nvSpPr>
        <p:spPr>
          <a:xfrm>
            <a:off x="502920" y="2871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09695" y="3200400"/>
            <a:ext cx="621792" cy="621792"/>
          </a:xfrm>
          <a:prstGeom prst="ellipse">
            <a:avLst/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09695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" y="3895344"/>
            <a:ext cx="2089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174248"/>
            <a:ext cx="2052462" cy="3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ideas &amp; use cases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19974" y="3429000"/>
            <a:ext cx="384048" cy="164592"/>
          </a:xfrm>
          <a:prstGeom prst="rightArrow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45037" y="3200400"/>
            <a:ext cx="621792" cy="62179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5037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11414" y="3895344"/>
            <a:ext cx="2089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29702" y="4162802"/>
            <a:ext cx="2052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Monthly AI Heroes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55316" y="3429000"/>
            <a:ext cx="384048" cy="164592"/>
          </a:xfrm>
          <a:prstGeom prst="rightArrow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80380" y="3200400"/>
            <a:ext cx="621792" cy="62179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80380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46756" y="3895344"/>
            <a:ext cx="2089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19908" y="4169539"/>
            <a:ext cx="2052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 and mentorship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90659" y="3429000"/>
            <a:ext cx="384048" cy="164592"/>
          </a:xfrm>
          <a:prstGeom prst="rightArrow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15722" y="3200400"/>
            <a:ext cx="621792" cy="62179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15722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82099" y="3895344"/>
            <a:ext cx="2089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00387" y="4157456"/>
            <a:ext cx="2052462" cy="3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Progress strong solutions quarterly</a:t>
            </a:r>
          </a:p>
        </p:txBody>
      </p:sp>
      <p:sp>
        <p:nvSpPr>
          <p:cNvPr id="41" name="Shape 39"/>
          <p:cNvSpPr/>
          <p:nvPr/>
        </p:nvSpPr>
        <p:spPr>
          <a:xfrm>
            <a:off x="9426001" y="3429000"/>
            <a:ext cx="384048" cy="164592"/>
          </a:xfrm>
          <a:prstGeom prst="rightArrow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251064" y="3200400"/>
            <a:ext cx="621792" cy="621792"/>
          </a:xfrm>
          <a:prstGeom prst="ellipse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251064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17441" y="3895344"/>
            <a:ext cx="2089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535729" y="4174248"/>
            <a:ext cx="2052462" cy="3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and expand winning solutions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4590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cs typeface="Calibri" pitchFamily="34" charset="-120"/>
              </a:rPr>
              <a:t>AI1440 THEME CATEGORIES</a:t>
            </a:r>
          </a:p>
        </p:txBody>
      </p:sp>
      <p:sp>
        <p:nvSpPr>
          <p:cNvPr id="47" name="Text 45"/>
          <p:cNvSpPr/>
          <p:nvPr/>
        </p:nvSpPr>
        <p:spPr>
          <a:xfrm>
            <a:off x="502920" y="48463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Every submission is aligned to one of the three AI1440 themes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5138928"/>
            <a:ext cx="3664610" cy="310896"/>
          </a:xfrm>
          <a:prstGeom prst="roundRect">
            <a:avLst>
              <a:gd name="adj" fmla="val 50000"/>
            </a:avLst>
          </a:prstGeom>
          <a:solidFill>
            <a:srgbClr val="F8F3F3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5138928"/>
            <a:ext cx="3664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0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258971" y="5138928"/>
            <a:ext cx="3664610" cy="310896"/>
          </a:xfrm>
          <a:prstGeom prst="roundRect">
            <a:avLst>
              <a:gd name="adj" fmla="val 50000"/>
            </a:avLst>
          </a:prstGeom>
          <a:solidFill>
            <a:srgbClr val="F8F3F3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258971" y="5138928"/>
            <a:ext cx="3664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0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015021" y="5138928"/>
            <a:ext cx="3664610" cy="310896"/>
          </a:xfrm>
          <a:prstGeom prst="roundRect">
            <a:avLst>
              <a:gd name="adj" fmla="val 50000"/>
            </a:avLst>
          </a:prstGeom>
          <a:solidFill>
            <a:srgbClr val="F8F3F3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015021" y="5138928"/>
            <a:ext cx="3664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0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02920" y="5995650"/>
            <a:ext cx="3538728" cy="4572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0936" y="5995650"/>
            <a:ext cx="335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 </a:t>
            </a: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Heroes recognition and visibility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283354" y="5995650"/>
            <a:ext cx="3538728" cy="4572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411370" y="5995650"/>
            <a:ext cx="335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 </a:t>
            </a:r>
            <a:r>
              <a:rPr lang="en-US" sz="1150" dirty="0">
                <a:solidFill>
                  <a:srgbClr val="D9D9D9"/>
                </a:solidFill>
                <a:latin typeface="Calibri" pitchFamily="34" charset="0"/>
                <a:cs typeface="Calibri" pitchFamily="34" charset="-120"/>
              </a:rPr>
              <a:t>AI Impact Awards for top solutions</a:t>
            </a:r>
          </a:p>
        </p:txBody>
      </p:sp>
      <p:sp>
        <p:nvSpPr>
          <p:cNvPr id="72" name="Shape 70"/>
          <p:cNvSpPr/>
          <p:nvPr/>
        </p:nvSpPr>
        <p:spPr>
          <a:xfrm>
            <a:off x="8063789" y="5995650"/>
            <a:ext cx="3542690" cy="4572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191805" y="5995650"/>
            <a:ext cx="335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Beyond:  </a:t>
            </a:r>
            <a:r>
              <a:rPr lang="en-US" sz="1150" dirty="0">
                <a:solidFill>
                  <a:srgbClr val="D9D9D9"/>
                </a:solidFill>
                <a:latin typeface="Calibri" pitchFamily="34" charset="0"/>
                <a:cs typeface="Calibri" pitchFamily="34" charset="-120"/>
              </a:rPr>
              <a:t>Pilot</a:t>
            </a:r>
            <a:r>
              <a:rPr lang="en-US" sz="1200" dirty="0"/>
              <a:t> </a:t>
            </a:r>
            <a:r>
              <a:rPr lang="en-US" sz="1150" dirty="0">
                <a:solidFill>
                  <a:srgbClr val="D9D9D9"/>
                </a:solidFill>
                <a:latin typeface="Calibri" pitchFamily="34" charset="0"/>
                <a:cs typeface="Calibri" pitchFamily="34" charset="-120"/>
              </a:rPr>
              <a:t>and scale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 dirty="0">
                <a:solidFill>
                  <a:srgbClr val="880939"/>
                </a:solidFill>
                <a:latin typeface="Calibri" pitchFamily="34" charset="0"/>
                <a:cs typeface="Calibri" pitchFamily="34" charset="-120"/>
              </a:rPr>
              <a:t>JAZZWORLD AI IMPACT AWARDS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Impact Awards Will Work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OPERATING MODEL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591056"/>
            <a:ext cx="1657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Submission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&amp; use cases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242261" y="1709928"/>
            <a:ext cx="128016" cy="109728"/>
          </a:xfrm>
          <a:prstGeom prst="rightArrow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1989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5141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5141" y="1591056"/>
            <a:ext cx="1657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AI Hero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5141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cs typeface="Calibri" pitchFamily="34" charset="-120"/>
              </a:rPr>
              <a:t>Recognition for progress</a:t>
            </a:r>
          </a:p>
        </p:txBody>
      </p:sp>
      <p:sp>
        <p:nvSpPr>
          <p:cNvPr id="14" name="Shape 12"/>
          <p:cNvSpPr/>
          <p:nvPr/>
        </p:nvSpPr>
        <p:spPr>
          <a:xfrm>
            <a:off x="4137050" y="1709928"/>
            <a:ext cx="128016" cy="109728"/>
          </a:xfrm>
          <a:prstGeom prst="rightArrow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46778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19930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9930" y="1591056"/>
            <a:ext cx="1657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Bi-Monthly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9930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95000"/>
              </a:lnSpc>
              <a:buNone/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cs typeface="Calibri" pitchFamily="34" charset="-120"/>
              </a:rPr>
              <a:t>Assess, guide and develop</a:t>
            </a:r>
          </a:p>
        </p:txBody>
      </p:sp>
      <p:sp>
        <p:nvSpPr>
          <p:cNvPr id="19" name="Shape 17"/>
          <p:cNvSpPr/>
          <p:nvPr/>
        </p:nvSpPr>
        <p:spPr>
          <a:xfrm>
            <a:off x="6031840" y="1709928"/>
            <a:ext cx="128016" cy="109728"/>
          </a:xfrm>
          <a:prstGeom prst="rightArrow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41568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4720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4720" y="1591056"/>
            <a:ext cx="1657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Finalists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4720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cs typeface="Calibri" pitchFamily="34" charset="-120"/>
              </a:rPr>
              <a:t>Strong solutions shortlisted</a:t>
            </a:r>
          </a:p>
        </p:txBody>
      </p:sp>
      <p:sp>
        <p:nvSpPr>
          <p:cNvPr id="24" name="Shape 22"/>
          <p:cNvSpPr/>
          <p:nvPr/>
        </p:nvSpPr>
        <p:spPr>
          <a:xfrm>
            <a:off x="7926629" y="1709928"/>
            <a:ext cx="128016" cy="109728"/>
          </a:xfrm>
          <a:prstGeom prst="rightArrow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36357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rgbClr val="8809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09509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8036" y="1591056"/>
            <a:ext cx="1822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 AI Impact Award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09509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95000"/>
              </a:lnSpc>
              <a:buNone/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cs typeface="Calibri" pitchFamily="34" charset="-120"/>
              </a:rPr>
              <a:t>Trophy, recognition and reward</a:t>
            </a:r>
          </a:p>
        </p:txBody>
      </p:sp>
      <p:sp>
        <p:nvSpPr>
          <p:cNvPr id="29" name="Shape 27"/>
          <p:cNvSpPr/>
          <p:nvPr/>
        </p:nvSpPr>
        <p:spPr>
          <a:xfrm>
            <a:off x="9821418" y="1709928"/>
            <a:ext cx="128016" cy="109728"/>
          </a:xfrm>
          <a:prstGeom prst="rightArrow">
            <a:avLst/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931146" y="1371600"/>
            <a:ext cx="1803349" cy="786384"/>
          </a:xfrm>
          <a:prstGeom prst="roundRect">
            <a:avLst>
              <a:gd name="adj" fmla="val 5814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04298" y="14173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04298" y="1591056"/>
            <a:ext cx="1657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Scale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04298" y="1865376"/>
            <a:ext cx="1657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7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support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57200" y="221284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Monthly recognition does not guarantee quarterly selection; all strong submissions remain eligible</a:t>
            </a:r>
            <a:r>
              <a:rPr lang="en-US" sz="1000" dirty="0"/>
              <a:t>.</a:t>
            </a:r>
          </a:p>
        </p:txBody>
      </p:sp>
      <p:sp>
        <p:nvSpPr>
          <p:cNvPr id="35" name="Text 33"/>
          <p:cNvSpPr/>
          <p:nvPr/>
        </p:nvSpPr>
        <p:spPr>
          <a:xfrm>
            <a:off x="457200" y="2542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ASSESSMENT MODEL</a:t>
            </a:r>
            <a:endParaRPr lang="en-US" sz="1200" dirty="0">
              <a:solidFill>
                <a:srgbClr val="880939"/>
              </a:solidFill>
            </a:endParaRPr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07764"/>
              </p:ext>
            </p:extLst>
          </p:nvPr>
        </p:nvGraphicFramePr>
        <p:xfrm>
          <a:off x="457200" y="2834640"/>
          <a:ext cx="4160520" cy="156819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2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(incl. financial)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Innovation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80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solidFill>
                          <a:srgbClr val="88093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457200" y="443941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*Under Development/Pilot ideas: feasibility &amp; pilot quality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57200" y="479783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0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PANEL</a:t>
            </a:r>
            <a:endParaRPr lang="en-US" sz="1000" dirty="0">
              <a:solidFill>
                <a:srgbClr val="5A024E"/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57200" y="5035574"/>
            <a:ext cx="4160520" cy="237744"/>
          </a:xfrm>
          <a:prstGeom prst="roundRect">
            <a:avLst>
              <a:gd name="adj" fmla="val 50000"/>
            </a:avLst>
          </a:prstGeom>
          <a:solidFill>
            <a:srgbClr val="F8F3F3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57200" y="5035574"/>
            <a:ext cx="4061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7F7F7F"/>
                </a:solidFill>
              </a:rPr>
              <a:t>|</a:t>
            </a:r>
            <a:r>
              <a:rPr lang="en-US" sz="900" dirty="0"/>
              <a:t> </a:t>
            </a: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cs typeface="Calibri" pitchFamily="34" charset="-120"/>
              </a:rPr>
              <a:t>AI &amp; Tech </a:t>
            </a:r>
            <a:r>
              <a:rPr lang="en-US" sz="900" dirty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|</a:t>
            </a: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cs typeface="Calibri" pitchFamily="34" charset="-120"/>
              </a:rPr>
              <a:t> Finance </a:t>
            </a:r>
            <a:r>
              <a:rPr lang="en-US" sz="900" dirty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|</a:t>
            </a: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cs typeface="Calibri" pitchFamily="34" charset="-120"/>
              </a:rPr>
              <a:t> Risk &amp; Privacy </a:t>
            </a:r>
            <a:r>
              <a:rPr lang="en-US" sz="900" dirty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|</a:t>
            </a: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cs typeface="Calibri" pitchFamily="34" charset="-120"/>
              </a:rPr>
              <a:t> P&amp;O </a:t>
            </a:r>
            <a:r>
              <a:rPr lang="en-US" sz="900" dirty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|</a:t>
            </a:r>
            <a:r>
              <a:rPr lang="en-US" sz="900" b="1" dirty="0">
                <a:solidFill>
                  <a:srgbClr val="880839"/>
                </a:solidFill>
                <a:latin typeface="Calibri" pitchFamily="34" charset="0"/>
                <a:cs typeface="Calibri" pitchFamily="34" charset="-120"/>
              </a:rPr>
              <a:t> SMEs</a:t>
            </a:r>
          </a:p>
        </p:txBody>
      </p:sp>
      <p:sp>
        <p:nvSpPr>
          <p:cNvPr id="51" name="Text 48"/>
          <p:cNvSpPr/>
          <p:nvPr/>
        </p:nvSpPr>
        <p:spPr>
          <a:xfrm>
            <a:off x="457200" y="55025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0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</a:t>
            </a:r>
            <a:endParaRPr lang="en-US" sz="1000" dirty="0">
              <a:solidFill>
                <a:srgbClr val="5A024E"/>
              </a:solidFill>
            </a:endParaRPr>
          </a:p>
        </p:txBody>
      </p:sp>
      <p:sp>
        <p:nvSpPr>
          <p:cNvPr id="52" name="Text 49"/>
          <p:cNvSpPr/>
          <p:nvPr/>
        </p:nvSpPr>
        <p:spPr>
          <a:xfrm>
            <a:off x="457200" y="572199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Clr>
                <a:srgbClr val="5A024E"/>
              </a:buClr>
              <a:buSzPct val="80000"/>
              <a:buChar char="✓"/>
            </a:pPr>
            <a:r>
              <a:rPr lang="en-US" sz="960" dirty="0">
                <a:solidFill>
                  <a:srgbClr val="262626"/>
                </a:solidFill>
                <a:latin typeface="Calibri" pitchFamily="34" charset="0"/>
                <a:cs typeface="Calibri" pitchFamily="34" charset="-120"/>
              </a:rPr>
              <a:t>Conflicts declared; sponsors do not judge</a:t>
            </a: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Clr>
                <a:srgbClr val="5A024E"/>
              </a:buClr>
              <a:buSzPct val="80000"/>
              <a:buChar char="✓"/>
            </a:pPr>
            <a:r>
              <a:rPr lang="en-US" sz="9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Finance validate impact, incl. financial impact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Clr>
                <a:srgbClr val="5A024E"/>
              </a:buClr>
              <a:buSzPct val="80000"/>
              <a:buChar char="✓"/>
            </a:pPr>
            <a:r>
              <a:rPr lang="en-US" sz="960" dirty="0">
                <a:solidFill>
                  <a:srgbClr val="262626"/>
                </a:solidFill>
                <a:latin typeface="Calibri" pitchFamily="34" charset="0"/>
                <a:cs typeface="Calibri" pitchFamily="34" charset="-120"/>
              </a:rPr>
              <a:t>Tech and control teams validate safe use.</a:t>
            </a: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Clr>
                <a:srgbClr val="5A024E"/>
              </a:buClr>
              <a:buSzPct val="80000"/>
              <a:buChar char="✓"/>
            </a:pPr>
            <a:r>
              <a:rPr lang="en-US" sz="9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&amp; Chief AI Officer review; CEO approves</a:t>
            </a:r>
            <a:endParaRPr lang="en-US" sz="960" dirty="0"/>
          </a:p>
        </p:txBody>
      </p:sp>
      <p:sp>
        <p:nvSpPr>
          <p:cNvPr id="53" name="Text 50"/>
          <p:cNvSpPr/>
          <p:nvPr/>
        </p:nvSpPr>
        <p:spPr>
          <a:xfrm>
            <a:off x="4892040" y="2542032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JAZZWORLD DIFFERS FROM VEON</a:t>
            </a:r>
            <a:endParaRPr lang="en-US" sz="1200" dirty="0">
              <a:solidFill>
                <a:srgbClr val="880939"/>
              </a:solidFill>
            </a:endParaRPr>
          </a:p>
        </p:txBody>
      </p:sp>
      <p:graphicFrame>
        <p:nvGraphicFramePr>
          <p:cNvPr id="5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050979"/>
              </p:ext>
            </p:extLst>
          </p:nvPr>
        </p:nvGraphicFramePr>
        <p:xfrm>
          <a:off x="4892040" y="2847132"/>
          <a:ext cx="6839712" cy="15849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8844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Under Development → Pilot/Testing →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Recognition of mature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Local themes and business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Group categories and OpCo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Open participation and development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Later-stage recognition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" name="Shape 51"/>
          <p:cNvSpPr/>
          <p:nvPr/>
        </p:nvSpPr>
        <p:spPr>
          <a:xfrm>
            <a:off x="4894783" y="4832625"/>
            <a:ext cx="6839712" cy="512064"/>
          </a:xfrm>
          <a:prstGeom prst="round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5059375" y="4832625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0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JazzWorld builds the local pipeline; VEON recognizes mature outcomes at Group level.</a:t>
            </a:r>
            <a:endParaRPr lang="en-US" sz="1050" dirty="0">
              <a:solidFill>
                <a:srgbClr val="5A024E"/>
              </a:solidFill>
            </a:endParaRPr>
          </a:p>
        </p:txBody>
      </p:sp>
      <p:pic>
        <p:nvPicPr>
          <p:cNvPr id="59" name="Picture 4" descr="Media Kit | VEON">
            <a:extLst>
              <a:ext uri="{FF2B5EF4-FFF2-40B4-BE49-F238E27FC236}">
                <a16:creationId xmlns:a16="http://schemas.microsoft.com/office/drawing/2014/main" id="{CAF63B6D-AF91-4A21-5BE0-07E031BC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775" y="2915327"/>
            <a:ext cx="577443" cy="26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B11E8D5-E548-ED35-24BC-B40F5B5F1F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793"/>
          <a:stretch/>
        </p:blipFill>
        <p:spPr>
          <a:xfrm>
            <a:off x="6296254" y="2851995"/>
            <a:ext cx="466814" cy="35107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67EB416-6682-7D30-3CC0-C4D7A111ADDD}"/>
              </a:ext>
            </a:extLst>
          </p:cNvPr>
          <p:cNvSpPr txBox="1"/>
          <p:nvPr/>
        </p:nvSpPr>
        <p:spPr>
          <a:xfrm>
            <a:off x="6731446" y="2938885"/>
            <a:ext cx="16760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Calibri" panose="020F0502020204030204" pitchFamily="34" charset="0"/>
                <a:cs typeface="Calibri" panose="020F0502020204030204" pitchFamily="34" charset="0"/>
              </a:rPr>
              <a:t>AI IMPACT AWARDS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FB3470-5A81-EF63-1C52-878D9CCB06D1}"/>
              </a:ext>
            </a:extLst>
          </p:cNvPr>
          <p:cNvSpPr txBox="1"/>
          <p:nvPr/>
        </p:nvSpPr>
        <p:spPr>
          <a:xfrm>
            <a:off x="9598083" y="2930960"/>
            <a:ext cx="16760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Calibri" panose="020F0502020204030204" pitchFamily="34" charset="0"/>
                <a:cs typeface="Calibri" panose="020F0502020204030204" pitchFamily="34" charset="0"/>
              </a:rPr>
              <a:t>AI AWARDS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A4048F9-1954-C254-7CA6-299E23A6F2FB}"/>
              </a:ext>
            </a:extLst>
          </p:cNvPr>
          <p:cNvSpPr/>
          <p:nvPr/>
        </p:nvSpPr>
        <p:spPr>
          <a:xfrm>
            <a:off x="404100" y="2542033"/>
            <a:ext cx="4271811" cy="4094364"/>
          </a:xfrm>
          <a:prstGeom prst="roundRect">
            <a:avLst>
              <a:gd name="adj" fmla="val 209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9281486-9551-AF0C-C452-77934964CDE4}"/>
              </a:ext>
            </a:extLst>
          </p:cNvPr>
          <p:cNvSpPr/>
          <p:nvPr/>
        </p:nvSpPr>
        <p:spPr>
          <a:xfrm>
            <a:off x="4842060" y="2547100"/>
            <a:ext cx="6945839" cy="4089493"/>
          </a:xfrm>
          <a:prstGeom prst="roundRect">
            <a:avLst>
              <a:gd name="adj" fmla="val 209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99E0039-B93B-09B9-FBAC-F13B3C65160E}"/>
              </a:ext>
            </a:extLst>
          </p:cNvPr>
          <p:cNvSpPr/>
          <p:nvPr/>
        </p:nvSpPr>
        <p:spPr>
          <a:xfrm>
            <a:off x="457200" y="493776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A0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2800" dirty="0">
              <a:solidFill>
                <a:srgbClr val="5A02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2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b="1" kern="0" spc="150" dirty="0">
                <a:solidFill>
                  <a:srgbClr val="880939"/>
                </a:solidFill>
                <a:latin typeface="Calibri" pitchFamily="34" charset="0"/>
                <a:cs typeface="Calibri" pitchFamily="34" charset="-120"/>
              </a:rPr>
              <a:t>JAZZWORLD AI IMPACT AWARDS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— Future Acceleration Lever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Launch the Awards first; activate the Hackathon when focused acceleration is needed.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DIRECTION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62626"/>
                </a:solidFill>
                <a:cs typeface="Calibri" pitchFamily="34" charset="-120"/>
              </a:rPr>
              <a:t>Launch AI Impact Awards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Build momentum: monthly themes, AI Heroes, quarterly awards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Track participation, quality &amp; maturity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62626"/>
                </a:solidFill>
                <a:ea typeface="Calibri" pitchFamily="34" charset="-122"/>
                <a:cs typeface="Calibri" pitchFamily="34" charset="-120"/>
              </a:rPr>
              <a:t>Keep Hackathon ready for future 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ACTIVATE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4412704" cy="566928"/>
          </a:xfrm>
          <a:prstGeom prst="roundRect">
            <a:avLst>
              <a:gd name="adj" fmla="val 9677"/>
            </a:avLst>
          </a:prstGeom>
          <a:solidFill>
            <a:srgbClr val="BFB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3566160"/>
            <a:ext cx="413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/>
              <a:t>Momentum drops</a:t>
            </a:r>
            <a:br>
              <a:rPr lang="en-US" sz="1100" dirty="0"/>
            </a:br>
            <a:r>
              <a:rPr lang="en-US" sz="1100" dirty="0"/>
              <a:t>Participation or submissions decline.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412704" cy="566928"/>
          </a:xfrm>
          <a:prstGeom prst="roundRect">
            <a:avLst>
              <a:gd name="adj" fmla="val 9677"/>
            </a:avLst>
          </a:prstGeom>
          <a:solidFill>
            <a:srgbClr val="BFB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4242816"/>
            <a:ext cx="413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/>
              <a:t>Ideas need incubation</a:t>
            </a:r>
            <a:br>
              <a:rPr lang="en-US" sz="1100" dirty="0"/>
            </a:br>
            <a:r>
              <a:rPr lang="en-US" sz="1100" dirty="0"/>
              <a:t>Teams need focused time and support.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4919472"/>
            <a:ext cx="4412704" cy="566928"/>
          </a:xfrm>
          <a:prstGeom prst="roundRect">
            <a:avLst>
              <a:gd name="adj" fmla="val 9677"/>
            </a:avLst>
          </a:prstGeom>
          <a:solidFill>
            <a:srgbClr val="BFB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4919472"/>
            <a:ext cx="413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/>
              <a:t>A priority needs acceleration</a:t>
            </a:r>
            <a:br>
              <a:rPr lang="en-US" sz="1100" dirty="0"/>
            </a:br>
            <a:r>
              <a:rPr lang="en-US" sz="1100" dirty="0"/>
              <a:t>Rapid ideation or prototyping is required.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57200" y="5489627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i="1" dirty="0"/>
              <a:t>Activated by need</a:t>
            </a:r>
            <a:r>
              <a:rPr lang="en-US" sz="1050" dirty="0"/>
              <a:t>—not a fixed calendar.</a:t>
            </a:r>
          </a:p>
        </p:txBody>
      </p:sp>
      <p:sp>
        <p:nvSpPr>
          <p:cNvPr id="21" name="Text 19"/>
          <p:cNvSpPr/>
          <p:nvPr/>
        </p:nvSpPr>
        <p:spPr>
          <a:xfrm>
            <a:off x="5806440" y="1517904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80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HACKATHON MODEL</a:t>
            </a:r>
            <a:endParaRPr lang="en-US" sz="1200" dirty="0">
              <a:solidFill>
                <a:srgbClr val="880939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53403" y="2618318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0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INCLUDES</a:t>
            </a:r>
            <a:endParaRPr lang="en-US" sz="1000" dirty="0">
              <a:solidFill>
                <a:srgbClr val="5A024E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 rot="2700000">
            <a:off x="5853403" y="3064687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36283" y="2932735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 per individual or team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 rot="2700000">
            <a:off x="8880067" y="3064687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062947" y="2932735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business challenge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 rot="2700000">
            <a:off x="5853403" y="3448735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6283" y="3316783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build time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 rot="2700000">
            <a:off x="8880067" y="3448735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62947" y="3316783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&amp; approved AI tools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 rot="2700000">
            <a:off x="5853403" y="3832783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36283" y="3700831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panel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 rot="2700000">
            <a:off x="8880067" y="3832783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062947" y="3700831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business owner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 rot="2700000">
            <a:off x="5853403" y="4216831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36283" y="4084879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scale pathway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 rot="2700000">
            <a:off x="8880067" y="4216831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0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062947" y="4084879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future Awards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7200" y="5870448"/>
            <a:ext cx="11277295" cy="4572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</a:rPr>
              <a:t>Awards remain the standing platform; Hackathons provide targeted acceleration when needed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76E05F-D35F-3BAB-A6FF-C9EC25E13B12}"/>
              </a:ext>
            </a:extLst>
          </p:cNvPr>
          <p:cNvSpPr txBox="1"/>
          <p:nvPr/>
        </p:nvSpPr>
        <p:spPr>
          <a:xfrm>
            <a:off x="5789395" y="1972654"/>
            <a:ext cx="6134977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Theme  Launch </a:t>
            </a:r>
            <a:r>
              <a:rPr lang="en-US" sz="1200" b="1" dirty="0">
                <a:solidFill>
                  <a:srgbClr val="5A024E"/>
                </a:solidFill>
              </a:rPr>
              <a:t>→</a:t>
            </a:r>
            <a:r>
              <a:rPr lang="en-US" sz="1400" dirty="0"/>
              <a:t> </a:t>
            </a:r>
            <a:r>
              <a:rPr lang="en-US" sz="1400" b="1" dirty="0"/>
              <a:t>Form Teams </a:t>
            </a:r>
            <a:r>
              <a:rPr lang="en-US" sz="1200" b="1" dirty="0">
                <a:solidFill>
                  <a:srgbClr val="5A024E"/>
                </a:solidFill>
              </a:rPr>
              <a:t>→</a:t>
            </a:r>
            <a:r>
              <a:rPr lang="en-US" sz="1400" dirty="0"/>
              <a:t> </a:t>
            </a:r>
            <a:r>
              <a:rPr lang="en-US" sz="1400" b="1" dirty="0"/>
              <a:t>Build Sprint </a:t>
            </a:r>
            <a:r>
              <a:rPr lang="en-US" sz="1200" b="1" dirty="0">
                <a:solidFill>
                  <a:srgbClr val="5A024E"/>
                </a:solidFill>
              </a:rPr>
              <a:t>→ </a:t>
            </a:r>
            <a:r>
              <a:rPr lang="en-US" sz="1400" b="1" dirty="0"/>
              <a:t>Demo Day </a:t>
            </a:r>
            <a:r>
              <a:rPr lang="en-US" sz="1200" b="1" dirty="0">
                <a:solidFill>
                  <a:srgbClr val="5A024E"/>
                </a:solidFill>
              </a:rPr>
              <a:t>→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880939"/>
                </a:solidFill>
              </a:rPr>
              <a:t>Pilot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02CE0AB-4F47-E76F-115B-9205E738B355}"/>
              </a:ext>
            </a:extLst>
          </p:cNvPr>
          <p:cNvCxnSpPr/>
          <p:nvPr/>
        </p:nvCxnSpPr>
        <p:spPr>
          <a:xfrm>
            <a:off x="5453299" y="1661973"/>
            <a:ext cx="0" cy="3904371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526</Words>
  <Application>Microsoft Office PowerPoint</Application>
  <PresentationFormat>Widescreen</PresentationFormat>
  <Paragraphs>125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JW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 AI Awards</dc:title>
  <dc:subject>AI</dc:subject>
  <dc:creator>Rabia</dc:creator>
  <cp:lastModifiedBy>Muhammad Haseeb Mohsin/PEOPLE &amp; ORG/ISB</cp:lastModifiedBy>
  <cp:revision>12</cp:revision>
  <dcterms:created xsi:type="dcterms:W3CDTF">2026-07-30T07:41:56Z</dcterms:created>
  <dcterms:modified xsi:type="dcterms:W3CDTF">2026-08-18T08:08:55Z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86e226-cfd0-4c2d-b2ff-bd9be0eaa4b4_Enabled">
    <vt:lpwstr>true</vt:lpwstr>
  </property>
  <property fmtid="{D5CDD505-2E9C-101B-9397-08002B2CF9AE}" pid="3" name="MSIP_Label_0886e226-cfd0-4c2d-b2ff-bd9be0eaa4b4_SetDate">
    <vt:lpwstr>2026-07-30T07:52:00Z</vt:lpwstr>
  </property>
  <property fmtid="{D5CDD505-2E9C-101B-9397-08002B2CF9AE}" pid="4" name="MSIP_Label_0886e226-cfd0-4c2d-b2ff-bd9be0eaa4b4_Method">
    <vt:lpwstr>Standard</vt:lpwstr>
  </property>
  <property fmtid="{D5CDD505-2E9C-101B-9397-08002B2CF9AE}" pid="5" name="MSIP_Label_0886e226-cfd0-4c2d-b2ff-bd9be0eaa4b4_Name">
    <vt:lpwstr>Internal</vt:lpwstr>
  </property>
  <property fmtid="{D5CDD505-2E9C-101B-9397-08002B2CF9AE}" pid="6" name="MSIP_Label_0886e226-cfd0-4c2d-b2ff-bd9be0eaa4b4_SiteId">
    <vt:lpwstr>5764b349-a60c-4df1-8cf5-62d06dd5b2c3</vt:lpwstr>
  </property>
  <property fmtid="{D5CDD505-2E9C-101B-9397-08002B2CF9AE}" pid="7" name="MSIP_Label_0886e226-cfd0-4c2d-b2ff-bd9be0eaa4b4_ActionId">
    <vt:lpwstr>f85ab9e5-23f0-4494-8b2a-64212c1fe5d2</vt:lpwstr>
  </property>
  <property fmtid="{D5CDD505-2E9C-101B-9397-08002B2CF9AE}" pid="8" name="MSIP_Label_0886e226-cfd0-4c2d-b2ff-bd9be0eaa4b4_ContentBits">
    <vt:lpwstr>0</vt:lpwstr>
  </property>
</Properties>
</file>